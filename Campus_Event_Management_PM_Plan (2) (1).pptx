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-914400"/>
            <a:ext cx="4572000" cy="73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0" b="0" i="0">
                <a:solidFill>
                  <a:srgbClr val="E8E4D6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GIU  ·  PROJECT MANAGEMENT  ·  SPRING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868680"/>
            <a:ext cx="11064240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3D3B37"/>
                </a:solidFill>
                <a:latin typeface="Georgia"/>
              </a:rPr>
              <a:t>A Full Project Management Plan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515600" cy="2105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0" i="0" dirty="0">
                <a:solidFill>
                  <a:srgbClr val="1F1F1E"/>
                </a:solidFill>
                <a:latin typeface="Georgia"/>
              </a:rPr>
              <a:t>Campus Event</a:t>
            </a:r>
          </a:p>
          <a:p>
            <a:pPr algn="l">
              <a:lnSpc>
                <a:spcPct val="95000"/>
              </a:lnSpc>
            </a:pPr>
            <a:r>
              <a:rPr sz="7200" b="0" i="0" dirty="0">
                <a:solidFill>
                  <a:srgbClr val="1F1F1E"/>
                </a:solidFill>
                <a:latin typeface="Georgia"/>
              </a:rPr>
              <a:t>Management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54864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Segoe UI Semibold"/>
              </a:rPr>
              <a:t>Ibrahim Madany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C785C"/>
                </a:solidFill>
                <a:latin typeface="Georgia"/>
              </a:rPr>
              <a:t>Project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029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Segoe UI Semibold"/>
              </a:rPr>
              <a:t>Yassin Kassem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349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C785C"/>
                </a:solidFill>
                <a:latin typeface="Georgia"/>
              </a:rPr>
              <a:t>Scrum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029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Segoe UI Semibold"/>
              </a:rPr>
              <a:t>Loay Waleed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349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C785C"/>
                </a:solidFill>
                <a:latin typeface="Georgia"/>
              </a:rPr>
              <a:t>Product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029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Segoe UI Semibold"/>
              </a:rPr>
              <a:t>Malek Khaled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349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C785C"/>
                </a:solidFill>
                <a:latin typeface="Georgia"/>
              </a:rPr>
              <a:t>Risk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5029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Segoe UI Semibold"/>
              </a:rPr>
              <a:t>Youssef Othman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5349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C785C"/>
                </a:solidFill>
                <a:latin typeface="Georgia"/>
              </a:rPr>
              <a:t>Comms &amp; QA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INSTRUCTOR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F1F1E"/>
                </a:solidFill>
                <a:latin typeface="Georgia"/>
              </a:rPr>
              <a:t>Dr. Abdallah Osman  ·  Introduction to Project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GIU  /  SPRING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00  ·  CONTENTS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F1F1E"/>
                </a:solidFill>
                <a:latin typeface="Georgia"/>
              </a:rPr>
              <a:t>Five chapters. Five owners.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Each role presents one section of the plan, end to 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052" y="337637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CC785C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336344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F1F1E"/>
                </a:solidFill>
                <a:latin typeface="Georgia"/>
              </a:rPr>
              <a:t>Project Charter &amp;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6524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8A857B"/>
                </a:solidFill>
                <a:latin typeface="Segoe UI"/>
              </a:rPr>
              <a:t>IBRAHIM MADANY  ·  PROJECT MANAGER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886200"/>
            <a:ext cx="11183112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6052" y="4034746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CC78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94711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F1F1E"/>
                </a:solidFill>
                <a:latin typeface="Georgia"/>
              </a:rPr>
              <a:t>Delivery &amp; Sprints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107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YASSIN KASSEM  ·  SCRUM MASTER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4544568"/>
            <a:ext cx="11183112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6052" y="4693114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CC785C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53079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1F1E"/>
                </a:solidFill>
                <a:latin typeface="Georgia"/>
              </a:rPr>
              <a:t>Product &amp; Backlog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6915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8A857B"/>
                </a:solidFill>
                <a:latin typeface="Segoe UI"/>
              </a:rPr>
              <a:t>LOAY WALEED  ·  PRODUCT OWNER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5202936"/>
            <a:ext cx="11183112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6052" y="535148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CC785C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311447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F1F1E"/>
                </a:solidFill>
                <a:latin typeface="Georgia"/>
              </a:rPr>
              <a:t>Risk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6275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8A857B"/>
                </a:solidFill>
                <a:latin typeface="Segoe UI"/>
              </a:rPr>
              <a:t>MALEK KHALED  ·  RISK MANAGER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5861303"/>
            <a:ext cx="11183112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6052" y="600984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CC785C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969815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1F1E"/>
                </a:solidFill>
                <a:latin typeface="Georgia"/>
              </a:rPr>
              <a:t>Stakeholders, QA &amp; 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6285891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8A857B"/>
                </a:solidFill>
                <a:latin typeface="Segoe UI"/>
              </a:rPr>
              <a:t>YOUSSEF OTHMAN  ·  COMMS &amp; QA LEAD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519671"/>
            <a:ext cx="11183112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01  ·  CHAPTER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C785C"/>
                </a:solidFill>
                <a:latin typeface="Segoe UI"/>
              </a:rPr>
              <a:t>PROJECT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4709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3D3B37"/>
                </a:solidFill>
                <a:latin typeface="Georgia"/>
              </a:rPr>
              <a:t>Ibrahim Madany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937760"/>
            <a:ext cx="365760" cy="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5074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Project Charter — overview &amp;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418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Scope, assumptions &amp;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344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3445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Methodology — why Agile, not Waterfall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270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2706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Timeline &amp; schedule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IBRAHIM MADANY  ·  PROJECT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01  ·  PROJECT CHARTER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F1F1E"/>
                </a:solidFill>
                <a:latin typeface="Georgia"/>
              </a:rPr>
              <a:t>One platform for every campus event.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Replacing scattered WhatsApp groups, posters, and email threads with a single source of 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OVERVIEW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33756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352044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F1F1E"/>
                </a:solidFill>
                <a:latin typeface="Georgia"/>
              </a:rPr>
              <a:t>A web platform that lets GIU students discover events, organizers manage registrations, and admins monitor engagement — delivered as an MVP across three sprints.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OBJECTIVES (SMART)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333756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35204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CC785C"/>
                </a:solidFill>
                <a:latin typeface="Georgia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93592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3B37"/>
                </a:solidFill>
                <a:latin typeface="Segoe UI"/>
              </a:rPr>
              <a:t>Reduction in manual event-handling effort vs current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7880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CC785C"/>
                </a:solidFill>
                <a:latin typeface="Georgia"/>
              </a:rPr>
              <a:t>≥99%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5196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3B37"/>
                </a:solidFill>
                <a:latin typeface="Segoe UI"/>
              </a:rPr>
              <a:t>RSVP success rate with strict capacity enforcement.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3717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CC785C"/>
                </a:solidFill>
                <a:latin typeface="Georgia"/>
              </a:rPr>
              <a:t>&lt;1m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910328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3B37"/>
                </a:solidFill>
                <a:latin typeface="Segoe UI"/>
              </a:rPr>
              <a:t>Notification delivery time, email + in-app combined.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9554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CC785C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568696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3B37"/>
                </a:solidFill>
                <a:latin typeface="Segoe UI"/>
              </a:rPr>
              <a:t>Sprints to ship a working MVP for all five modules.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IBRAHIM MADANY  ·  PROJECT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01  ·  SCOPE BASELINE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F1F1E"/>
                </a:solidFill>
                <a:latin typeface="Georgia"/>
              </a:rPr>
              <a:t>What we will — and won't —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The fence around the work, plus the ground we're standing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IN SCOPE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38328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6118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Authentication &amp; GIU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Event listing &amp; detail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Organizer event CRUD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RSVP with capacity &amp; waitlist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Email + in-app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692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Admin dashboard &amp;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108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1E"/>
                </a:solidFill>
                <a:latin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108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1E"/>
                </a:solidFill>
                <a:latin typeface="Segoe UI"/>
              </a:rPr>
              <a:t>OUT OF SCOPE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37560" y="3383280"/>
            <a:ext cx="365760" cy="0"/>
          </a:xfrm>
          <a:prstGeom prst="line">
            <a:avLst/>
          </a:prstGeom>
          <a:ln w="190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37560" y="36118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611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Online payment / ticketing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02336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02336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Native mobile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43484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43484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Public (non-GIU)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84632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8463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AI-based 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525780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2578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External CRM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6692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669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Live-streaming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08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E7A4A"/>
                </a:solidFill>
                <a:latin typeface="Consolas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108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E7A4A"/>
                </a:solidFill>
                <a:latin typeface="Segoe UI"/>
              </a:rPr>
              <a:t>ASSUMPTIONS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72200" y="3383280"/>
            <a:ext cx="365760" cy="0"/>
          </a:xfrm>
          <a:prstGeom prst="line">
            <a:avLst/>
          </a:prstGeom>
          <a:ln w="19050">
            <a:solidFill>
              <a:srgbClr val="5E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72200" y="36118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7A4A"/>
                </a:solidFill>
                <a:latin typeface="Segoe U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611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GIU provides hosting &amp; test 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02336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7A4A"/>
                </a:solidFill>
                <a:latin typeface="Segoe U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02336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All students hold valid GIU accounts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443484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7A4A"/>
                </a:solidFill>
                <a:latin typeface="Segoe U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43484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Organizers supply event details on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484632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7A4A"/>
                </a:solidFill>
                <a:latin typeface="Segoe U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8463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Stable campus internet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108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8963A"/>
                </a:solidFill>
                <a:latin typeface="Consolas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3108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8963A"/>
                </a:solidFill>
                <a:latin typeface="Segoe UI"/>
              </a:rPr>
              <a:t>CONSTRAINTS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006840" y="3383280"/>
            <a:ext cx="365760" cy="0"/>
          </a:xfrm>
          <a:prstGeom prst="line">
            <a:avLst/>
          </a:prstGeom>
          <a:ln w="19050">
            <a:solidFill>
              <a:srgbClr val="C89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006840" y="36118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8963A"/>
                </a:solidFill>
                <a:latin typeface="Segoe U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611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Single-semester delivery window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402336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8963A"/>
                </a:solidFill>
                <a:latin typeface="Segoe U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402336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No external budget — academic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43484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8963A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443484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Team of five student members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484632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8963A"/>
                </a:solidFill>
                <a:latin typeface="Segoe U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48463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Limited QA time vs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IBRAHIM MADANY  ·  PROJECT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01  ·  METHODOLOGY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F1F1E"/>
                </a:solidFill>
                <a:latin typeface="Georgia"/>
              </a:rPr>
              <a:t>Why Agile, not Waterfall.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An evolving academic product needs feedback loops, not a big up-front spec.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6400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0" i="0">
                <a:solidFill>
                  <a:srgbClr val="CC785C"/>
                </a:solidFill>
                <a:latin typeface="Georgia"/>
              </a:rPr>
              <a:t>Agile / Scrum.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519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SELECTED — TWO-WEEK SPRINTS ×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4526280"/>
            <a:ext cx="6355080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466344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D3B37"/>
                </a:solidFill>
                <a:latin typeface="Segoe UI"/>
              </a:rPr>
              <a:t>Requirements will evolve as feedback from students and organizers arrives.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10912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10912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D3B37"/>
                </a:solidFill>
                <a:latin typeface="Segoe UI"/>
              </a:rPr>
              <a:t>Stakeholders need visible progress every sprint, not at the 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58383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58383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D3B37"/>
                </a:solidFill>
                <a:latin typeface="Segoe UI"/>
              </a:rPr>
              <a:t>MVP ships incrementally: auth → events → RSVP → notifications → reports.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05855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05855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D3B37"/>
                </a:solidFill>
                <a:latin typeface="Segoe UI"/>
              </a:rPr>
              <a:t>Retrospectives let a 5-person student team self-correct fast.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108960"/>
            <a:ext cx="4023360" cy="31089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NOT CHOSEN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5204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1F1F1E"/>
                </a:solidFill>
                <a:latin typeface="Georgia"/>
              </a:rPr>
              <a:t>Waterfall.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9560" y="4160520"/>
            <a:ext cx="32004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09560" y="434340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34340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Heavy up-front spec doesn't fit a student project.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72744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72744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Late integration risk for notifications &amp; reporting.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5111496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111496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No mid-project feedback loop.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495544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495544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Change requests are expensive.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IBRAHIM MADANY  ·  PROJECT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01  ·  TIMELINE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Twelve weeks, end to 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From kickoff to handover, one semester.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8704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79519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6448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5696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4192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3440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1936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1184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704320" y="3108960"/>
            <a:ext cx="0" cy="292608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9456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704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9519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448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696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192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440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936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1840" y="2788920"/>
            <a:ext cx="79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57B"/>
                </a:solidFill>
                <a:latin typeface="Consolas"/>
              </a:rPr>
              <a:t>W12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200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Georgia"/>
              </a:rPr>
              <a:t>Initiation &amp; Planning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00400"/>
            <a:ext cx="1584960" cy="384048"/>
          </a:xfrm>
          <a:prstGeom prst="rect">
            <a:avLst/>
          </a:prstGeom>
          <a:solidFill>
            <a:srgbClr val="E8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94560" y="3200400"/>
            <a:ext cx="1584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1F1E"/>
                </a:solidFill>
                <a:latin typeface="Segoe UI Semibold"/>
              </a:rPr>
              <a:t>W1–W2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74903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Georgia"/>
              </a:rPr>
              <a:t>Sprint 1 · Foundation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79519" y="3749039"/>
            <a:ext cx="2377440" cy="384048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79519" y="3749039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EEE6"/>
                </a:solidFill>
                <a:latin typeface="Segoe UI Semibold"/>
              </a:rPr>
              <a:t>W3–W5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2976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Georgia"/>
              </a:rPr>
              <a:t>Sprint 2 · Engagement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6960" y="4297680"/>
            <a:ext cx="2377440" cy="384048"/>
          </a:xfrm>
          <a:prstGeom prst="rect">
            <a:avLst/>
          </a:prstGeom>
          <a:solidFill>
            <a:srgbClr val="1F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56960" y="429768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EEE6"/>
                </a:solidFill>
                <a:latin typeface="Segoe UI Semibold"/>
              </a:rPr>
              <a:t>W6–W8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846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Georgia"/>
              </a:rPr>
              <a:t>Sprint 3 · Closure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34400" y="4846320"/>
            <a:ext cx="2377440" cy="384048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34400" y="484632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EEE6"/>
                </a:solidFill>
                <a:latin typeface="Segoe UI Semibold"/>
              </a:rPr>
              <a:t>W9–W11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394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Georgia"/>
              </a:rPr>
              <a:t>Final Review &amp; Closure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11840" y="5394960"/>
            <a:ext cx="792480" cy="384048"/>
          </a:xfrm>
          <a:prstGeom prst="rect">
            <a:avLst/>
          </a:prstGeom>
          <a:solidFill>
            <a:srgbClr val="C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911840" y="5394960"/>
            <a:ext cx="792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0EEE6"/>
                </a:solidFill>
                <a:latin typeface="Segoe UI Semibold"/>
              </a:rPr>
              <a:t>W12–W12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02  ·  CHAPTER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C785C"/>
                </a:solidFill>
                <a:latin typeface="Segoe UI"/>
              </a:rPr>
              <a:t>SCRUM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3D3B37"/>
                </a:solidFill>
                <a:latin typeface="Georgia"/>
              </a:rPr>
              <a:t>Yassin Kassem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937760"/>
            <a:ext cx="365760" cy="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5074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Scrum Master role &amp; ceremonies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418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Sprint 1 — Foundation +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344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3445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Sprint 2 — Event creation + RSVP +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270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2706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Sprint 3 — Reporting + QA +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YASSIN KASSEM  ·  SCRUM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02  ·  SCRUM CEREMONIES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F1F1E"/>
                </a:solidFill>
                <a:latin typeface="Georgia"/>
              </a:rPr>
              <a:t>The rhythm of the sprint.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Six recurring events keep the team aligned and the work honest.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3273552"/>
            <a:ext cx="324612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2993364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F1F1E"/>
                </a:solidFill>
                <a:latin typeface="Georgia"/>
              </a:rPr>
              <a:t>Sprint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050" y="335136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START OF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50" y="3579961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Pick backlog items, agree on goal &amp; capacity.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108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3273552"/>
            <a:ext cx="324612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91972" y="301753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F1F1E"/>
                </a:solidFill>
                <a:latin typeface="Georgia"/>
              </a:rPr>
              <a:t>Daily Standup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6530" y="335136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EVERY WEEKDAY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6530" y="3579961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15 min — done, doing, blockers.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108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41080" y="3273552"/>
            <a:ext cx="324612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32452" y="301753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1F1E"/>
                </a:solidFill>
                <a:latin typeface="Georgia"/>
              </a:rPr>
              <a:t>Backlog Refinement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7010" y="335136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MID-SPRINT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7010" y="3579961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PO clarifies stories; team re-estimates.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20" y="4919472"/>
            <a:ext cx="324612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1492" y="466345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1F1E"/>
                </a:solidFill>
                <a:latin typeface="Georgia"/>
              </a:rPr>
              <a:t>Sprint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050" y="499728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END OF 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050" y="5225881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Demo working increment to stakeholders.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00600" y="4919472"/>
            <a:ext cx="324612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91972" y="466345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1F1E"/>
                </a:solidFill>
                <a:latin typeface="Georgia"/>
              </a:rPr>
              <a:t>Retrospective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6530" y="499728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END OF SPRINT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6530" y="5225881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What worked, what to change. 2 actions.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41080" y="4919472"/>
            <a:ext cx="324612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632452" y="466345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1F1E"/>
                </a:solidFill>
                <a:latin typeface="Georgia"/>
              </a:rPr>
              <a:t>Blocker Removal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7010" y="499728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CONTINUOUS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7010" y="5225881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D3B37"/>
                </a:solidFill>
                <a:latin typeface="Segoe UI"/>
              </a:rPr>
              <a:t>SM unblocks and keeps the board flowing.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YASSIN KASSEM  ·  SCRUM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02  ·  SPRINT 01 · FOUNDATION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Sprint 01 —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Goal: Deliver working MVP — authentication + event listing.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834640"/>
            <a:ext cx="1110996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3720" y="2834640"/>
            <a:ext cx="675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0960" y="2834640"/>
            <a:ext cx="5933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0" y="2834640"/>
            <a:ext cx="200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9120" y="283464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283464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STATUS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246120"/>
            <a:ext cx="1110996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720" y="3246120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960" y="3246120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Repository, branching strategy &amp; CI skeleton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6000" y="3246120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Ibrahim Madany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9120" y="3246120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9200" y="3246120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Done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3630168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3720" y="3630168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960" y="3630168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Database schema (users / events / RSVPs)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6000" y="3630168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Loay Waleed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9120" y="3630168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9200" y="3630168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Done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4014216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3720" y="4014216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0960" y="4014216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Login &amp; registration with GIU email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6000" y="4014216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Yassin Kassem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9120" y="4014216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9200" y="4014216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Done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4398264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3720" y="4398264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0960" y="4398264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Role-based access control 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6000" y="4398264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Yassin Kassem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9120" y="4398264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9200" y="4398264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Done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4782312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3720" y="4782312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0960" y="4782312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Event listing page with filters &amp; 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6000" y="4782312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Youssef Othman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9120" y="4782312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9200" y="4782312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In Progress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5166360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3720" y="5166360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0960" y="5166360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Event detail page (read-only)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6000" y="5166360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Malek Khaled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9120" y="5166360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9200" y="5166360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In Progress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5550408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53720" y="5550408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0960" y="5550408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Unit tests for auth &amp; listing endpoints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6000" y="5550408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Youssef Othman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9120" y="5550408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9200" y="5550408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To Do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5934456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3720" y="5934456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S1-08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0960" y="5934456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Sprint review &amp; retrospective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6000" y="5934456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Yassin Kassem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9120" y="5934456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9200" y="5934456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To Do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6318504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YASSIN KASSEM  ·  SCRUM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02  ·  SPRINT 02 · ENGAGEMENT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Sprint 02 — Engagement.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Goal: Event creation, RSVP and notifications working end-to-end.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834640"/>
            <a:ext cx="1110996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3720" y="2834640"/>
            <a:ext cx="675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0960" y="2834640"/>
            <a:ext cx="5933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0" y="2834640"/>
            <a:ext cx="200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9120" y="283464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283464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STATUS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246120"/>
            <a:ext cx="1110996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720" y="3246120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960" y="3246120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Organizer event creation form &amp;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6000" y="3246120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Loay Waleed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9120" y="3246120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9200" y="3246120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3630168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3720" y="3630168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960" y="3630168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Event editing &amp; cancellation 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6000" y="3630168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Loay Waleed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9120" y="3630168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9200" y="3630168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4014216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3720" y="4014216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0960" y="4014216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RSVP / register button with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6000" y="4014216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Youssef Othman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9120" y="4014216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9200" y="4014216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4398264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3720" y="4398264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0960" y="4398264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Capacity limit &amp; waitlist 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6000" y="4398264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Malek Khaled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9120" y="4398264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9200" y="4398264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4782312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3720" y="4782312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0960" y="4782312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Email notification service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6000" y="4782312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Ibrahim Madany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9120" y="4782312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9200" y="4782312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5166360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3720" y="5166360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0960" y="5166360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In-app notification feed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6000" y="5166360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Youssef Othman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9120" y="5166360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9200" y="5166360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5550408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53720" y="5550408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0960" y="5550408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Registration confirmation emails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6000" y="5550408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Ibrahim Madany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9120" y="5550408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9200" y="5550408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5934456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3720" y="5934456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S2-08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0960" y="5934456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Integration tests: RSVP + notifications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6000" y="5934456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Youssef Othman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9120" y="5934456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9200" y="5934456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6318504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YASSIN KASSEM  ·  SCRUM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02  ·  SPRINT 03 · CLOSURE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Sprint 03 — Closure.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Goal: Reporting engine + QA + deployment + handover.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834640"/>
            <a:ext cx="1110996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3720" y="2834640"/>
            <a:ext cx="675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0960" y="2834640"/>
            <a:ext cx="5933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0" y="2834640"/>
            <a:ext cx="200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9120" y="283464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283464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STATUS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246120"/>
            <a:ext cx="1110996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720" y="3246120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960" y="3246120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Admin dashboard layout &amp;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6000" y="3246120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Ibrahim Madany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9120" y="3246120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9200" y="3246120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3630168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3720" y="3630168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960" y="3630168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Attendance &amp; registration report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6000" y="3630168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Loay Waleed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9120" y="3630168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9200" y="3630168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4014216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3720" y="4014216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0960" y="4014216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Export data to CSV /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6000" y="4014216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Loay Waleed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9120" y="4014216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9200" y="4014216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4398264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3720" y="4398264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0960" y="4398264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Security testing &amp; dependency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6000" y="4398264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Malek Khaled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9120" y="4398264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9200" y="4398264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4782312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3720" y="4782312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0960" y="4782312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User Acceptance Testing with organizers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6000" y="4782312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Youssef Othman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9120" y="4782312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9200" y="4782312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5166360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3720" y="5166360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0960" y="5166360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Bug fixing &amp; polish pass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6000" y="5166360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Team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9120" y="5166360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9200" y="5166360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5550408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53720" y="5550408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0960" y="5550408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Deployment to GIU / free-tier hosting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6000" y="5550408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Ibrahim Madany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9120" y="5550408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9200" y="5550408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5934456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3720" y="5934456"/>
            <a:ext cx="675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S3-08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0960" y="5934456"/>
            <a:ext cx="593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Final handover documentation &amp; demo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6000" y="5934456"/>
            <a:ext cx="200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Team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9120" y="5934456"/>
            <a:ext cx="53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9200" y="5934456"/>
            <a:ext cx="145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Planned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6318504"/>
            <a:ext cx="1110996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03  ·  CHAPTER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C785C"/>
                </a:solidFill>
                <a:latin typeface="Segoe UI"/>
              </a:rPr>
              <a:t>PRODUCT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3D3B37"/>
                </a:solidFill>
                <a:latin typeface="Georgia"/>
              </a:rPr>
              <a:t>Loay Waleed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937760"/>
            <a:ext cx="365760" cy="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5074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Product vision &amp; beneficiaries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418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Scope statement &amp; scope creep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344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3445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Product backlog — prioritized user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270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2706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Work Breakdown Structure (WBS)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LOAY WALEED  ·  PRODUCT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03  ·  PRODUCT VISION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A single home for everything happening on campus.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2743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0" b="0" i="0">
                <a:solidFill>
                  <a:srgbClr val="E8C4B0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10241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1F1F1E"/>
                </a:solidFill>
                <a:latin typeface="Georgia"/>
              </a:rPr>
              <a:t>Give GIU a unified web platform where students discover and join events in seconds, organizers run them with zero spreadsheets, and admins see campus engagement at a glance.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5349240"/>
            <a:ext cx="45720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5440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150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3B37"/>
                </a:solidFill>
                <a:latin typeface="Segoe UI"/>
              </a:rPr>
              <a:t>Discover events, RSVP in one click, get reminders.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5349240"/>
            <a:ext cx="45720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0" y="5440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ORGANIZERS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7150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3B37"/>
                </a:solidFill>
                <a:latin typeface="Segoe UI"/>
              </a:rPr>
              <a:t>Create events, manage capacity, communicate updates.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92440" y="5349240"/>
            <a:ext cx="45720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92440" y="5440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ADMINS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7150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3B37"/>
                </a:solidFill>
                <a:latin typeface="Segoe UI"/>
              </a:rPr>
              <a:t>Monitor engagement KPIs and pull reports.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LOAY WALEED  ·  PRODUCT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03  ·  SCOPE STATEMENT &amp; CREEP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1F1E"/>
                </a:solidFill>
                <a:latin typeface="Georgia"/>
              </a:rPr>
              <a:t>Lock the baseline. Control change with discipline.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What we ship, what we don't, and how we say 'no' to mid-sprint additions.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E7A4A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E7A4A"/>
                </a:solidFill>
                <a:latin typeface="Segoe UI"/>
              </a:rPr>
              <a:t>IN SCOPE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200400"/>
            <a:ext cx="3383280" cy="0"/>
          </a:xfrm>
          <a:prstGeom prst="line">
            <a:avLst/>
          </a:prstGeom>
          <a:ln w="19050">
            <a:solidFill>
              <a:srgbClr val="5E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337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7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GIU login &amp; roles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3904487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931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Event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Listing, detail, CRUD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449884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45262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RSVP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Capacity + waitlist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509320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5120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Email + in-app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568756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7150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Admin KPIs &amp; reports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28192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3484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8442E"/>
                </a:solidFill>
                <a:latin typeface="Consola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926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8442E"/>
                </a:solidFill>
                <a:latin typeface="Segoe UI"/>
              </a:rPr>
              <a:t>OUT OF SCOPE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34840" y="3200400"/>
            <a:ext cx="3383280" cy="0"/>
          </a:xfrm>
          <a:prstGeom prst="line">
            <a:avLst/>
          </a:prstGeom>
          <a:ln w="19050">
            <a:solidFill>
              <a:srgbClr val="A84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34840" y="3337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Payments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1187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No ticketing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34840" y="3904487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34840" y="3931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Mobile native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2062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Web MVP only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34840" y="449884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34840" y="45262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Public events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800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GIU community only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434840" y="509320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34840" y="5120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AI recs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3949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Not in MVP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434840" y="568756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34840" y="57150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External CRM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9893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Manual exports only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34840" y="628192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36676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8963A"/>
                </a:solidFill>
                <a:latin typeface="Consolas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2926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8963A"/>
                </a:solidFill>
                <a:latin typeface="Segoe UI"/>
              </a:rPr>
              <a:t>CREEP CONTROL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66760" y="3200400"/>
            <a:ext cx="3383280" cy="0"/>
          </a:xfrm>
          <a:prstGeom prst="line">
            <a:avLst/>
          </a:prstGeom>
          <a:ln w="19050">
            <a:solidFill>
              <a:srgbClr val="C89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66760" y="3337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Change Request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361187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Written submission first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66760" y="3904487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366760" y="3931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Impact Assessment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Time/cost/risk evaluated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66760" y="449884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66760" y="45262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Sponsor Approval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4800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Instructor sign-off only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366760" y="509320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366760" y="5120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Sprint 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3949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Backlog frozen mid-sprint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366760" y="568756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366760" y="57150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WBS Baseline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59893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57B"/>
                </a:solidFill>
                <a:latin typeface="Segoe UI"/>
              </a:rPr>
              <a:t>Not in WBS = not in project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366760" y="6281928"/>
            <a:ext cx="338328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LOAY WALEED  ·  PRODUCT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03  ·  PRODUCT BACKLOG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F1F1E"/>
                </a:solidFill>
                <a:latin typeface="Georgia"/>
              </a:rPr>
              <a:t>Ten user stories that shape the MVP.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Prioritized by value to the user, sized in story points, mapped to a sprint.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834640"/>
            <a:ext cx="1115568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3720" y="2834640"/>
            <a:ext cx="675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0960" y="2834640"/>
            <a:ext cx="7579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USER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1920" y="2834640"/>
            <a:ext cx="995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9200" y="283464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9280" y="2834640"/>
            <a:ext cx="858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SPRINT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246120"/>
            <a:ext cx="1115568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720" y="3246120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960" y="3246120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 student, I want to log in with GIU credentials so my identity is verified.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920" y="3246120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9200" y="3246120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9280" y="3246120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3575304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3720" y="3575304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960" y="3575304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 student, I want to browse upcoming events with filters.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1920" y="3575304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9200" y="3575304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9280" y="3575304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3904488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3720" y="3904488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0960" y="3904488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 student, I want to view full event details before joining.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920" y="3904488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9200" y="3904488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9280" y="3904488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4233672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3720" y="4233672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0960" y="4233672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an organizer, I want to create events with date, capacity and description.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1920" y="4233672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9200" y="4233672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9280" y="4233672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4562856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3720" y="4562856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0960" y="4562856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 student, I want to RSVP and see confirmation immediately.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1920" y="4562856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9200" y="4562856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9280" y="4562856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489204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3720" y="4892040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0960" y="4892040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an organizer, I want to edit or cancel an event and notify attendees.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1920" y="4892040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9200" y="4892040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49280" y="4892040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5221224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53720" y="5221224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0960" y="5221224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 student, I want email + in-app reminders before an event.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11920" y="5221224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9200" y="5221224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49280" y="5221224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5550408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3720" y="5550408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0960" y="5550408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an admin, I want a dashboard showing top events and attendance.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11920" y="5550408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9200" y="5550408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49280" y="5550408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S3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5879592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53720" y="5879592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30960" y="5879592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an admin, I want to export an attendance report (CSV/PDF).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11920" y="5879592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9200" y="5879592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49280" y="5879592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2920" y="6208776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720" y="6208776"/>
            <a:ext cx="675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  <a:latin typeface="Consolas"/>
              </a:rPr>
              <a:t>US-10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30960" y="6208776"/>
            <a:ext cx="7579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As an admin, I want to deactivate misuse accounts to keep data clean.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11920" y="6208776"/>
            <a:ext cx="995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Low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9200" y="6208776"/>
            <a:ext cx="538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49280" y="6208776"/>
            <a:ext cx="858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Segoe UI"/>
              </a:rPr>
              <a:t>S3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02920" y="653796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LOAY WALEED  ·  PRODUCT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03  ·  WORK BREAKDOWN STRUCTURE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The work, decomposed.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Three branches. Each branch ships a baseline of deliverables.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2880360"/>
            <a:ext cx="2057400" cy="457200"/>
          </a:xfrm>
          <a:prstGeom prst="rect">
            <a:avLst/>
          </a:prstGeom>
          <a:noFill/>
          <a:ln w="15240">
            <a:solidFill>
              <a:srgbClr val="1F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28803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1F1E"/>
                </a:solidFill>
                <a:latin typeface="Segoe UI Semibold"/>
              </a:rPr>
              <a:t>0.0  Campus Event Mgmt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3337560"/>
            <a:ext cx="0" cy="320040"/>
          </a:xfrm>
          <a:prstGeom prst="line">
            <a:avLst/>
          </a:prstGeom>
          <a:ln w="9525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94560" y="3657600"/>
            <a:ext cx="7818120" cy="0"/>
          </a:xfrm>
          <a:prstGeom prst="line">
            <a:avLst/>
          </a:prstGeom>
          <a:ln w="9525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87168" y="3657600"/>
            <a:ext cx="0" cy="228600"/>
          </a:xfrm>
          <a:prstGeom prst="line">
            <a:avLst/>
          </a:prstGeom>
          <a:ln w="9525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63040" y="3886200"/>
            <a:ext cx="2057400" cy="5029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388620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0EEE6"/>
                </a:solidFill>
                <a:latin typeface="Segoe UI Semibold"/>
              </a:rPr>
              <a:t>1.0  Initiation &amp;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262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1.1 Charter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54480" y="481888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54480" y="48463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1.2 Stakeholder Register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54480" y="513892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54480" y="516635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1.3 Risk Register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54480" y="545896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54480" y="548639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1.4 Sprint Plans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54480" y="5779007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9048" y="3657600"/>
            <a:ext cx="0" cy="228600"/>
          </a:xfrm>
          <a:prstGeom prst="line">
            <a:avLst/>
          </a:prstGeom>
          <a:ln w="9525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74920" y="3886200"/>
            <a:ext cx="2057400" cy="5029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388620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0EEE6"/>
                </a:solidFill>
                <a:latin typeface="Segoe UI Semibold"/>
              </a:rPr>
              <a:t>2.0  System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5262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2.1 Authentication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66360" y="481888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66360" y="48463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2.2 Event Module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66360" y="513892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66360" y="516635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2.3 RSVP Module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66360" y="545896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66360" y="548639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2.4 Notifications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66360" y="5779007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66360" y="580643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2.5 Reporting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66360" y="6099047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710928" y="3657600"/>
            <a:ext cx="0" cy="228600"/>
          </a:xfrm>
          <a:prstGeom prst="line">
            <a:avLst/>
          </a:prstGeom>
          <a:ln w="9525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686800" y="3886200"/>
            <a:ext cx="2057400" cy="5029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388620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0EEE6"/>
                </a:solidFill>
                <a:latin typeface="Segoe UI Semibold"/>
              </a:rPr>
              <a:t>3.0  Testing &amp;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5262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3.1 Unit Testing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78240" y="481888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78240" y="48463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3.2 Integration Testing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78240" y="513892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78240" y="516635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3.3 UAT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78240" y="5458968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78240" y="548639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3.4 Deployment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78240" y="5779007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778240" y="580643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3.5 Handover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778240" y="6099047"/>
            <a:ext cx="192024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04  ·  CHAPTER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C785C"/>
                </a:solidFill>
                <a:latin typeface="Segoe UI"/>
              </a:rPr>
              <a:t>RISK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1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3D3B37"/>
                </a:solidFill>
                <a:latin typeface="Georgia"/>
              </a:rPr>
              <a:t>Malek Khaled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937760"/>
            <a:ext cx="365760" cy="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5074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Risk management overview &amp;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418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Risk register — seven risks scored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344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3445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Probability–Impact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270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2706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Risk response strategy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MALEK KHALED  ·  RISK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04  ·  RISK MANAGEMENT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F1F1E"/>
                </a:solidFill>
                <a:latin typeface="Georgia"/>
              </a:rPr>
              <a:t>See problems before they happen.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3D3B37"/>
                </a:solidFill>
                <a:latin typeface="Georgia"/>
              </a:rPr>
              <a:t>“Identify risks before they become issues.”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3657600" cy="237744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73152" cy="23774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CC785C"/>
                </a:solidFill>
                <a:latin typeface="Georgia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1E"/>
                </a:solidFill>
                <a:latin typeface="Segoe UI"/>
              </a:rPr>
              <a:t>RISKS IDENTIFIED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A857B"/>
                </a:solidFill>
                <a:latin typeface="Segoe UI"/>
              </a:rPr>
              <a:t>Across product, team and infra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474720"/>
            <a:ext cx="3657600" cy="237744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3474720"/>
            <a:ext cx="73152" cy="23774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56616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CC785C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846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1E"/>
                </a:solidFill>
                <a:latin typeface="Segoe UI"/>
              </a:rPr>
              <a:t>RED-ZONE RISKS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12064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A857B"/>
                </a:solidFill>
                <a:latin typeface="Segoe UI"/>
              </a:rPr>
              <a:t>Active mitigation in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3474720"/>
            <a:ext cx="3657600" cy="237744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80" y="3474720"/>
            <a:ext cx="73152" cy="23774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56616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CC785C"/>
                </a:solidFill>
                <a:latin typeface="Georgia"/>
              </a:rPr>
              <a:t>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846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1E"/>
                </a:solidFill>
                <a:latin typeface="Segoe UI"/>
              </a:rPr>
              <a:t>REVIEW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12064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A857B"/>
                </a:solidFill>
                <a:latin typeface="Segoe UI"/>
              </a:rPr>
              <a:t>Re-scored at end of each sprint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MALEK KHALED  ·  RISK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04  ·  RISK REGISTER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F1F1E"/>
                </a:solidFill>
                <a:latin typeface="Georgia"/>
              </a:rPr>
              <a:t>Seven risks. Three on active mitigation.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Score = Probability × Impact, reviewed at the end of every sprint.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834640"/>
            <a:ext cx="1115568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3720" y="283464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800" y="283464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2760" y="283464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PROB.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720" y="283464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8680" y="283464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200" y="283464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4680" y="283464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MITIGATION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246120"/>
            <a:ext cx="1115568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720" y="324612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R1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3800" y="324612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Low student adoption of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760" y="324612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20" y="324612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8680" y="324612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200" y="324612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Product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4680" y="324612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Awareness campaign, easy onboarding.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365760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3720" y="365760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R2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800" y="365760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Notification service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2760" y="365760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5720" y="365760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8680" y="365760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0200" y="365760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PM / 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4680" y="365760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Retry queue, fallback to email, monitoring.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406908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3720" y="406908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3800" y="406908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Scope creep mid-sprint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2760" y="406908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5720" y="406908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8680" y="406908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0200" y="406908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4680" y="406908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Locked sprint backlog, formal CR process.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448056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53720" y="448056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R4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3800" y="448056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Team member unavailability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2760" y="448056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5720" y="448056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8680" y="448056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0200" y="448056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Scrum Master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4680" y="448056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Pair work, shared docs, cross-skilling.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489204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53720" y="489204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R5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93800" y="489204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Data privacy / PII issue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2760" y="489204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5720" y="489204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8680" y="489204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0200" y="489204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Risk Manager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4680" y="489204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RBAC, encryption, minimal data collected.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530352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3720" y="530352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R6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3800" y="530352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Hosting / deployment delay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02760" y="530352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5720" y="530352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8680" y="530352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80200" y="530352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34680" y="530352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Free-tier backup host, early deploy spike.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" y="571500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53720" y="5715000"/>
            <a:ext cx="53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Consolas"/>
              </a:rPr>
              <a:t>R7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3800" y="5715000"/>
            <a:ext cx="300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Organizer resistance to new tool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02760" y="571500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5720" y="5715000"/>
            <a:ext cx="72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8680" y="5715000"/>
            <a:ext cx="62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80200" y="5715000"/>
            <a:ext cx="1452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Comms Lead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34680" y="5715000"/>
            <a:ext cx="337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Demo sessions, organizer feedback loop.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02920" y="6126480"/>
            <a:ext cx="1115568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MALEK KHALED  ·  RISK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04  ·  PROBABILITY × IMPACT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Where each risk sits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A 3×3 grid that drives the response strategy on the next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14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1F1F1E"/>
                </a:solidFill>
                <a:latin typeface="Georgia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914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1F1F1E"/>
                </a:solidFill>
                <a:latin typeface="Georgia"/>
              </a:rPr>
              <a:t>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914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1F1F1E"/>
                </a:solidFill>
                <a:latin typeface="Georgia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6172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F1F1E"/>
                </a:solidFill>
                <a:latin typeface="Georgia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6172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F1F1E"/>
                </a:solidFill>
                <a:latin typeface="Georgia"/>
              </a:rPr>
              <a:t>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6172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F1F1E"/>
                </a:solidFill>
                <a:latin typeface="Georgia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8A857B"/>
                </a:solidFill>
                <a:latin typeface="Segoe UI"/>
              </a:rPr>
              <a:t>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297180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08960" y="3081528"/>
            <a:ext cx="164592" cy="164592"/>
          </a:xfrm>
          <a:prstGeom prst="ellipse">
            <a:avLst/>
          </a:prstGeom>
          <a:solidFill>
            <a:srgbClr val="C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83280" y="297180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37760" y="3081528"/>
            <a:ext cx="164592" cy="164592"/>
          </a:xfrm>
          <a:prstGeom prst="ellipse">
            <a:avLst/>
          </a:prstGeom>
          <a:solidFill>
            <a:srgbClr val="A8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297180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1F1E"/>
                </a:solidFill>
                <a:latin typeface="Georgia"/>
              </a:rPr>
              <a:t>R3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297180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766560" y="3081528"/>
            <a:ext cx="164592" cy="164592"/>
          </a:xfrm>
          <a:prstGeom prst="ellipse">
            <a:avLst/>
          </a:prstGeom>
          <a:solidFill>
            <a:srgbClr val="A8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54480" y="402336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08960" y="4133088"/>
            <a:ext cx="164592" cy="164592"/>
          </a:xfrm>
          <a:prstGeom prst="ellipse">
            <a:avLst/>
          </a:prstGeom>
          <a:solidFill>
            <a:srgbClr val="5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3280" y="402336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937760" y="4133088"/>
            <a:ext cx="164592" cy="164592"/>
          </a:xfrm>
          <a:prstGeom prst="ellipse">
            <a:avLst/>
          </a:prstGeom>
          <a:solidFill>
            <a:srgbClr val="C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402336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1F1E"/>
                </a:solidFill>
                <a:latin typeface="Georgia"/>
              </a:rPr>
              <a:t>R4  R6  R7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402336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766560" y="4133088"/>
            <a:ext cx="164592" cy="164592"/>
          </a:xfrm>
          <a:prstGeom prst="ellipse">
            <a:avLst/>
          </a:prstGeom>
          <a:solidFill>
            <a:srgbClr val="A8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0" y="402336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1F1E"/>
                </a:solidFill>
                <a:latin typeface="Georgia"/>
              </a:rPr>
              <a:t>R1  R2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07492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108960" y="5184648"/>
            <a:ext cx="164592" cy="164592"/>
          </a:xfrm>
          <a:prstGeom prst="ellipse">
            <a:avLst/>
          </a:prstGeom>
          <a:solidFill>
            <a:srgbClr val="5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83280" y="507492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937760" y="5184648"/>
            <a:ext cx="164592" cy="164592"/>
          </a:xfrm>
          <a:prstGeom prst="ellipse">
            <a:avLst/>
          </a:prstGeom>
          <a:solidFill>
            <a:srgbClr val="5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212080" y="5074920"/>
            <a:ext cx="1828800" cy="105156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66560" y="5184648"/>
            <a:ext cx="164592" cy="164592"/>
          </a:xfrm>
          <a:prstGeom prst="ellipse">
            <a:avLst/>
          </a:prstGeom>
          <a:solidFill>
            <a:srgbClr val="C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507492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1F1E"/>
                </a:solidFill>
                <a:latin typeface="Georgia"/>
              </a:rPr>
              <a:t>R5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971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LEGEND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72400" y="320040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772400" y="3520440"/>
            <a:ext cx="182880" cy="182880"/>
          </a:xfrm>
          <a:prstGeom prst="ellipse">
            <a:avLst/>
          </a:prstGeom>
          <a:solidFill>
            <a:srgbClr val="5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60" y="3383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Accept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657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Monitor only</a:t>
            </a:r>
          </a:p>
        </p:txBody>
      </p:sp>
      <p:sp>
        <p:nvSpPr>
          <p:cNvPr id="45" name="Oval 44"/>
          <p:cNvSpPr/>
          <p:nvPr/>
        </p:nvSpPr>
        <p:spPr>
          <a:xfrm>
            <a:off x="7772400" y="4206240"/>
            <a:ext cx="182880" cy="182880"/>
          </a:xfrm>
          <a:prstGeom prst="ellipse">
            <a:avLst/>
          </a:prstGeom>
          <a:solidFill>
            <a:srgbClr val="C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38160" y="4069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3434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Review each sprint</a:t>
            </a:r>
          </a:p>
        </p:txBody>
      </p:sp>
      <p:sp>
        <p:nvSpPr>
          <p:cNvPr id="48" name="Oval 47"/>
          <p:cNvSpPr/>
          <p:nvPr/>
        </p:nvSpPr>
        <p:spPr>
          <a:xfrm>
            <a:off x="7772400" y="4892040"/>
            <a:ext cx="182880" cy="182880"/>
          </a:xfrm>
          <a:prstGeom prst="ellipse">
            <a:avLst/>
          </a:prstGeom>
          <a:solidFill>
            <a:srgbClr val="A8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38160" y="4754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Mitigate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Immediate 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577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TOP-3 ACTIVE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772400" y="580644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772400" y="59436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3B37"/>
                </a:solidFill>
                <a:latin typeface="Segoe UI"/>
              </a:rPr>
              <a:t>R1 — Adoption    R2 — Notifications    R3 — Scope creep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MALEK KHALED  ·  RISK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04  ·  RISK RESPONSES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Four strategies. Seven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Each risk is matched to the right action — not all risks deserve mitigation.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8442E"/>
                </a:solidFill>
                <a:latin typeface="Consolas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182112"/>
            <a:ext cx="365760" cy="0"/>
          </a:xfrm>
          <a:prstGeom prst="line">
            <a:avLst/>
          </a:prstGeom>
          <a:ln w="19050">
            <a:solidFill>
              <a:srgbClr val="A84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32918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F1F1E"/>
                </a:solidFill>
                <a:latin typeface="Georgia"/>
              </a:rPr>
              <a:t>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ELIMINATE THE CAUSE ENTIRELY.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8442E"/>
                </a:solidFill>
                <a:latin typeface="Segoe U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3B37"/>
                </a:solidFill>
                <a:latin typeface="Segoe UI"/>
              </a:rPr>
              <a:t>R5  Collect minimal PII to remove privacy exposure.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8963A"/>
                </a:solidFill>
                <a:latin typeface="Consolas"/>
              </a:rP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55080" y="3182112"/>
            <a:ext cx="365760" cy="0"/>
          </a:xfrm>
          <a:prstGeom prst="line">
            <a:avLst/>
          </a:prstGeom>
          <a:ln w="19050">
            <a:solidFill>
              <a:srgbClr val="C89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55080" y="32918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F1F1E"/>
                </a:solidFill>
                <a:latin typeface="Georgia"/>
              </a:rPr>
              <a:t>MITIGATE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REDUCE PROBABILITY OR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8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8963A"/>
                </a:solidFill>
                <a:latin typeface="Segoe U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3B37"/>
                </a:solidFill>
                <a:latin typeface="Segoe UI"/>
              </a:rPr>
              <a:t>R1  Adoption campaign &amp;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6168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8963A"/>
                </a:solidFill>
                <a:latin typeface="Segoe U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6168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3B37"/>
                </a:solidFill>
                <a:latin typeface="Segoe UI"/>
              </a:rPr>
              <a:t>R2  Retry queue +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654296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8963A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65429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3B37"/>
                </a:solidFill>
                <a:latin typeface="Segoe UI"/>
              </a:rPr>
              <a:t>R3  Locked sprint backlog &amp; CR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46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5102352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2120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F1F1E"/>
                </a:solidFill>
                <a:latin typeface="Georgia"/>
              </a:rPr>
              <a:t>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150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SHIFT THE RISK TO ANOTHER PARTY.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8932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C785C"/>
                </a:solidFill>
                <a:latin typeface="Segoe U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893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3B37"/>
                </a:solidFill>
                <a:latin typeface="Segoe UI"/>
              </a:rPr>
              <a:t>R6  Rely on managed hosting / free-tier 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846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E7A4A"/>
                </a:solidFill>
                <a:latin typeface="Consolas"/>
              </a:rPr>
              <a:t>04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55080" y="5102352"/>
            <a:ext cx="365760" cy="0"/>
          </a:xfrm>
          <a:prstGeom prst="line">
            <a:avLst/>
          </a:prstGeom>
          <a:ln w="19050">
            <a:solidFill>
              <a:srgbClr val="5E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55080" y="52120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F1F1E"/>
                </a:solidFill>
                <a:latin typeface="Georgia"/>
              </a:rPr>
              <a:t>ACCEPT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7150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LIVE WITH IT; HAVE A CONTINGENCY.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989320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7A4A"/>
                </a:solidFill>
                <a:latin typeface="Segoe U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9893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3B37"/>
                </a:solidFill>
                <a:latin typeface="Segoe UI"/>
              </a:rPr>
              <a:t>R4  Pair work / cross-skilling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628192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7A4A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628192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3B37"/>
                </a:solidFill>
                <a:latin typeface="Segoe UI"/>
              </a:rPr>
              <a:t>R7  Organizer feedback loop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05  ·  CHAPTER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C785C"/>
                </a:solidFill>
                <a:latin typeface="Segoe UI"/>
              </a:rPr>
              <a:t>COMMS &amp; QA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3D3B37"/>
                </a:solidFill>
                <a:latin typeface="Georgia"/>
              </a:rPr>
              <a:t>Youssef Othman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937760"/>
            <a:ext cx="365760" cy="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5074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Stakeholder analysis &amp; power–interest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418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Team roles &amp; collaboration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344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3445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Communication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270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2706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Definition of Done &amp;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5196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Lessons learned &amp; project closure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YOUSSEF OTHMAN  ·  COMMS &amp; QA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05  ·  STAKEHOLDERS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Power × Interest.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Who to manage closely, who to keep informed — at a glance.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1F1F1E"/>
                </a:solidFill>
                <a:latin typeface="Georgia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12597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1F1F1E"/>
                </a:solidFill>
                <a:latin typeface="Georgia"/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62636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8A857B"/>
                </a:solidFill>
                <a:latin typeface="Segoe UI"/>
              </a:rPr>
              <a:t>INTEREST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880360"/>
            <a:ext cx="2423160" cy="164592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30175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8963A"/>
                </a:solidFill>
                <a:latin typeface="Segoe UI"/>
              </a:rPr>
              <a:t>KEEP SATISFIED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3291840"/>
            <a:ext cx="365760" cy="0"/>
          </a:xfrm>
          <a:prstGeom prst="line">
            <a:avLst/>
          </a:prstGeom>
          <a:ln w="19050">
            <a:solidFill>
              <a:srgbClr val="C89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17320" y="3429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IT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2160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Course Instructor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880360"/>
            <a:ext cx="2423160" cy="164592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30175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8442E"/>
                </a:solidFill>
                <a:latin typeface="Segoe UI"/>
              </a:rPr>
              <a:t>MANAGE CLOSELY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3291840"/>
            <a:ext cx="365760" cy="0"/>
          </a:xfrm>
          <a:prstGeom prst="line">
            <a:avLst/>
          </a:prstGeom>
          <a:ln w="19050">
            <a:solidFill>
              <a:srgbClr val="A84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40480" y="3429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University Admins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2160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Event Organizers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4526280"/>
            <a:ext cx="2423160" cy="164592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466344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E7A4A"/>
                </a:solidFill>
                <a:latin typeface="Segoe UI"/>
              </a:rPr>
              <a:t>MONITOR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17320" y="4937760"/>
            <a:ext cx="365760" cy="0"/>
          </a:xfrm>
          <a:prstGeom prst="line">
            <a:avLst/>
          </a:prstGeom>
          <a:ln w="19050">
            <a:solidFill>
              <a:srgbClr val="5E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17320" y="50749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General Campus Staff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526280"/>
            <a:ext cx="2423160" cy="1645920"/>
          </a:xfrm>
          <a:prstGeom prst="rect">
            <a:avLst/>
          </a:prstGeom>
          <a:solidFill>
            <a:srgbClr val="FAF8F2"/>
          </a:solidFill>
          <a:ln w="6350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0" y="466344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KEEP INFORMED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40480" y="493776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40480" y="50749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Students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STAKEHOLDER REGISTER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66560" y="310896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66560" y="32918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Students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5661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8A857B"/>
                </a:solidFill>
                <a:latin typeface="Segoe UI"/>
              </a:rPr>
              <a:t>End 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2918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D3B37"/>
                </a:solidFill>
                <a:latin typeface="Segoe UI"/>
              </a:rPr>
              <a:t>Easy discovery &amp; RSVP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5661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A857B"/>
                </a:solidFill>
                <a:latin typeface="Segoe UI"/>
              </a:rPr>
              <a:t>In-app updates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66560" y="3858768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66560" y="39319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Event Organizers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2062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8A857B"/>
                </a:solidFill>
                <a:latin typeface="Segoe UI"/>
              </a:rPr>
              <a:t>Power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93192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D3B37"/>
                </a:solidFill>
                <a:latin typeface="Segoe UI"/>
              </a:rPr>
              <a:t>Reliable tools, fast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206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A857B"/>
                </a:solidFill>
                <a:latin typeface="Segoe UI"/>
              </a:rPr>
              <a:t>Bi-weekly demos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66560" y="4498848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66560" y="457200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University Admins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8463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8A857B"/>
                </a:solidFill>
                <a:latin typeface="Segoe UI"/>
              </a:rPr>
              <a:t>Sponsor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5720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D3B37"/>
                </a:solidFill>
                <a:latin typeface="Segoe UI"/>
              </a:rPr>
              <a:t>Engagement KPIs, compliance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84632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A857B"/>
                </a:solidFill>
                <a:latin typeface="Segoe UI"/>
              </a:rPr>
              <a:t>Milestone reviews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66560" y="5138928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766560" y="52120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IT Support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4864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8A857B"/>
                </a:solidFill>
                <a:latin typeface="Segoe UI"/>
              </a:rPr>
              <a:t>Hosting / infra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2120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D3B37"/>
                </a:solidFill>
                <a:latin typeface="Segoe UI"/>
              </a:rPr>
              <a:t>Secure deployment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54864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A857B"/>
                </a:solidFill>
                <a:latin typeface="Segoe UI"/>
              </a:rPr>
              <a:t>Architecture reviews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66560" y="5779008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766560" y="585216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Georgia"/>
              </a:rPr>
              <a:t>Course Instructor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61264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8A857B"/>
                </a:solidFill>
                <a:latin typeface="Segoe UI"/>
              </a:rPr>
              <a:t>Academic sponsor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585216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D3B37"/>
                </a:solidFill>
                <a:latin typeface="Segoe UI"/>
              </a:rPr>
              <a:t>On-time, quality delivery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61264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A857B"/>
                </a:solidFill>
                <a:latin typeface="Segoe UI"/>
              </a:rPr>
              <a:t>Weekly status emails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66560" y="6419088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YOUSSEF OTHMAN  ·  COMMS &amp; QA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05  ·  TEAM ROLES &amp; TOOLS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F1F1E"/>
                </a:solidFill>
                <a:latin typeface="Georgia"/>
              </a:rPr>
              <a:t>Five members. One stack.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Who owns what — and the lightweight tools that keep us aligned.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ROLES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10896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" y="3246120"/>
            <a:ext cx="640080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3720" y="3246120"/>
            <a:ext cx="172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2520" y="3246120"/>
            <a:ext cx="191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4200" y="3246120"/>
            <a:ext cx="245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OWNS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657600"/>
            <a:ext cx="64008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720" y="3657600"/>
            <a:ext cx="172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Ibrahim Madany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2520" y="3657600"/>
            <a:ext cx="191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Project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4200" y="3657600"/>
            <a:ext cx="245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Charter, timeline, integration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4114800"/>
            <a:ext cx="64008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3720" y="4114800"/>
            <a:ext cx="172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Yassin Kassem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2520" y="4114800"/>
            <a:ext cx="191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Scrum Master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4200" y="4114800"/>
            <a:ext cx="245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Ceremonies, blockers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572000"/>
            <a:ext cx="64008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3720" y="4572000"/>
            <a:ext cx="172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Loay Waleed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2520" y="4572000"/>
            <a:ext cx="191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Product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4200" y="4572000"/>
            <a:ext cx="245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Backlog, user stories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5029200"/>
            <a:ext cx="64008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3720" y="5029200"/>
            <a:ext cx="172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Malek Khaled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2520" y="5029200"/>
            <a:ext cx="191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Risk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4200" y="5029200"/>
            <a:ext cx="245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Register, matrix, mitigation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5486400"/>
            <a:ext cx="64008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3720" y="5486400"/>
            <a:ext cx="172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Youssef Othman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2520" y="5486400"/>
            <a:ext cx="191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Comms &amp; QA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4200" y="5486400"/>
            <a:ext cx="245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1F1E"/>
                </a:solidFill>
                <a:latin typeface="Segoe UI"/>
              </a:rPr>
              <a:t>Stakeholders, DoD, closure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5943600"/>
            <a:ext cx="64008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8096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STACK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80960" y="310896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80960" y="32461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Trello / Jira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538727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Backlog &amp; sprint board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80960" y="3840480"/>
            <a:ext cx="40050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680960" y="37033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9959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Version control &amp; PRs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80960" y="4297680"/>
            <a:ext cx="40050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680960" y="41605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Google Drive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4531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Docs &amp; charter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80960" y="4754880"/>
            <a:ext cx="40050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80960" y="46177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WhatsApp / Slack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9103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Day-to-day chat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680960" y="5212080"/>
            <a:ext cx="40050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680960" y="50749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Google Meet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53675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Standups &amp; reviews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680960" y="5669280"/>
            <a:ext cx="40050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680960" y="55321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1F1E"/>
                </a:solidFill>
                <a:latin typeface="Georgia"/>
              </a:rPr>
              <a:t>Figma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8247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857B"/>
                </a:solidFill>
                <a:latin typeface="Segoe UI"/>
              </a:rPr>
              <a:t>UI mockups &amp; review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680960" y="6126480"/>
            <a:ext cx="40050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YOUSSEF OTHMAN  ·  COMMS &amp; QA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05  ·  COMMUNICATION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F1F1E"/>
                </a:solidFill>
                <a:latin typeface="Georgia"/>
              </a:rPr>
              <a:t>Right info, right channel, right cadence.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Daily internal syncs, weekly external reports, formal sprint reviews.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834640"/>
            <a:ext cx="10515600" cy="0"/>
          </a:xfrm>
          <a:prstGeom prst="line">
            <a:avLst/>
          </a:prstGeom>
          <a:ln w="1524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3720" y="2834640"/>
            <a:ext cx="218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9720" y="2834640"/>
            <a:ext cx="309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0120" y="2834640"/>
            <a:ext cx="264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320" y="2834640"/>
            <a:ext cx="218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1F1E"/>
                </a:solidFill>
                <a:latin typeface="Segoe UI Semibold"/>
              </a:rPr>
              <a:t>FREQUENCY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3246120"/>
            <a:ext cx="105156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3720" y="3246120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9720" y="3246120"/>
            <a:ext cx="309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Sprint tasks, blockers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0120" y="3246120"/>
            <a:ext cx="264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WhatsApp + Trello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3320" y="3246120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Daily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3630168"/>
            <a:ext cx="105156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3720" y="3630168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Scrum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9720" y="3630168"/>
            <a:ext cx="309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Standup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0120" y="3630168"/>
            <a:ext cx="264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Google Meet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3320" y="3630168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Daily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4014216"/>
            <a:ext cx="105156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3720" y="4014216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Product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9720" y="4014216"/>
            <a:ext cx="309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Backlog &amp; demos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0120" y="4014216"/>
            <a:ext cx="264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Sprint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3320" y="4014216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End of sprint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4398264"/>
            <a:ext cx="105156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3720" y="4398264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Instructor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9720" y="4398264"/>
            <a:ext cx="309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Progress &amp; risks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0120" y="4398264"/>
            <a:ext cx="264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Email + status doc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3320" y="4398264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Weekly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4782312"/>
            <a:ext cx="105156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53720" y="4782312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University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9720" y="4782312"/>
            <a:ext cx="309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Milestone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40120" y="4782312"/>
            <a:ext cx="264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3320" y="4782312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Per milestone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5166360"/>
            <a:ext cx="105156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3720" y="5166360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Event Organizers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9720" y="5166360"/>
            <a:ext cx="309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Feature demos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0120" y="5166360"/>
            <a:ext cx="264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Demo session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3320" y="5166360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Bi-weekly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5550408"/>
            <a:ext cx="105156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3720" y="5550408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Students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9720" y="5550408"/>
            <a:ext cx="309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Platform updates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0120" y="5550408"/>
            <a:ext cx="264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In-app + email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3320" y="5550408"/>
            <a:ext cx="218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1F1E"/>
                </a:solidFill>
                <a:latin typeface="Segoe UI"/>
              </a:rPr>
              <a:t>Per release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5934456"/>
            <a:ext cx="10515600" cy="0"/>
          </a:xfrm>
          <a:prstGeom prst="line">
            <a:avLst/>
          </a:prstGeom>
          <a:ln w="508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YOUSSEF OTHMAN  ·  COMMS &amp; QA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05  ·  QUALITY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F1F1E"/>
                </a:solidFill>
                <a:latin typeface="Georgia"/>
              </a:rPr>
              <a:t>Definition of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A story is only 'Done' when all six checks pass.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CC785C"/>
                </a:solidFill>
                <a:latin typeface="Georgia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3218688"/>
            <a:ext cx="29718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29260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1F1E"/>
                </a:solidFill>
                <a:latin typeface="Georgia"/>
              </a:rPr>
              <a:t>Code Reviewed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918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A857B"/>
                </a:solidFill>
                <a:latin typeface="Segoe UI"/>
              </a:rPr>
              <a:t>Peer reviewed and approved.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26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CC785C"/>
                </a:solidFill>
                <a:latin typeface="Georgia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" y="3218688"/>
            <a:ext cx="29718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0" y="29260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1F1E"/>
                </a:solidFill>
                <a:latin typeface="Georgia"/>
              </a:rPr>
              <a:t>Acceptance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918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A857B"/>
                </a:solidFill>
                <a:latin typeface="Segoe UI"/>
              </a:rPr>
              <a:t>All AC demonstrably met.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926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CC785C"/>
                </a:solidFill>
                <a:latin typeface="Georgia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20" y="3218688"/>
            <a:ext cx="29718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32520" y="29260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1F1E"/>
                </a:solidFill>
                <a:latin typeface="Georgia"/>
              </a:rPr>
              <a:t>Unit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2918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A857B"/>
                </a:solidFill>
                <a:latin typeface="Segoe UI"/>
              </a:rPr>
              <a:t>Tests added/updated, all green.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CC785C"/>
                </a:solidFill>
                <a:latin typeface="Georgia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4590288"/>
            <a:ext cx="29718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42976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1F1E"/>
                </a:solidFill>
                <a:latin typeface="Georgia"/>
              </a:rPr>
              <a:t>Integrated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634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A857B"/>
                </a:solidFill>
                <a:latin typeface="Segoe UI"/>
              </a:rPr>
              <a:t>Works end-to-end with related modules.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2976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CC785C"/>
                </a:solidFill>
                <a:latin typeface="Georgia"/>
              </a:rPr>
              <a:t>05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37760" y="4590288"/>
            <a:ext cx="29718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37760" y="42976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1F1E"/>
                </a:solidFill>
                <a:latin typeface="Georgia"/>
              </a:rPr>
              <a:t>Documented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6634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A857B"/>
                </a:solidFill>
                <a:latin typeface="Segoe UI"/>
              </a:rPr>
              <a:t>Docs and notes updated.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2976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CC785C"/>
                </a:solidFill>
                <a:latin typeface="Georgia"/>
              </a:rPr>
              <a:t>06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4590288"/>
            <a:ext cx="2971800" cy="0"/>
          </a:xfrm>
          <a:prstGeom prst="line">
            <a:avLst/>
          </a:prstGeom>
          <a:ln w="635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32520" y="42976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1F1E"/>
                </a:solidFill>
                <a:latin typeface="Georgia"/>
              </a:rPr>
              <a:t>PO Accepted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6634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A857B"/>
                </a:solidFill>
                <a:latin typeface="Segoe UI"/>
              </a:rPr>
              <a:t>Product Owner formally accepts.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585216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5943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QA LAYERS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F1F1E"/>
                </a:solidFill>
                <a:latin typeface="Georgia"/>
              </a:rPr>
              <a:t>Unit  ·  Integration  ·  UAT  ·  Security &amp; privacy  ·  Performance  ·  Docs review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57B"/>
                </a:solidFill>
                <a:latin typeface="Consolas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857B"/>
                </a:solidFill>
                <a:latin typeface="Segoe UI"/>
              </a:rPr>
              <a:t>Campus Event Management System  ·  Spring 2026  ·  GIU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YOUSSEF OTHMAN  ·  COMMS &amp; QA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§ 05  ·  LESSONS &amp; CLOSURE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143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F1F1E"/>
                </a:solidFill>
                <a:latin typeface="Georgia"/>
              </a:rPr>
              <a:t>Lessons learned. Plane landed.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D3B37"/>
                </a:solidFill>
                <a:latin typeface="Georgia"/>
              </a:rPr>
              <a:t>What we'd tell the next team on day one — and how we wrap.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LESSONS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15468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33375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C785C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Lock sprint scope clearly — changes mid-sprint cost more than they save.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3840480"/>
            <a:ext cx="562356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904487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C785C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7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Validate notification requirements early; spike it in Sprint 1.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4407407"/>
            <a:ext cx="562356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44714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C785C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7141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Frequent stakeholder feedback catches gaps before they ship.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4974336"/>
            <a:ext cx="562356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0383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C785C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3834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Document decisions from day one with short ADR-style notes.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5541264"/>
            <a:ext cx="562356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560527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C785C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0527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F1E"/>
                </a:solidFill>
                <a:latin typeface="Segoe UI"/>
              </a:rPr>
              <a:t>Test role permissions early — RBAC bugs surface late and are painful.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108192"/>
            <a:ext cx="5623560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60" y="2926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Segoe UI"/>
              </a:rPr>
              <a:t>CLOSURE CHECKLIST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66560" y="3154680"/>
            <a:ext cx="365760" cy="0"/>
          </a:xfrm>
          <a:prstGeom prst="line">
            <a:avLst/>
          </a:prstGeom>
          <a:ln w="190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766560" y="3410712"/>
            <a:ext cx="201168" cy="201168"/>
          </a:xfrm>
          <a:prstGeom prst="rect">
            <a:avLst/>
          </a:prstGeom>
          <a:noFill/>
          <a:ln w="9525">
            <a:solidFill>
              <a:srgbClr val="1F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33832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C785C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337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1F1E"/>
                </a:solidFill>
                <a:latin typeface="Georgia"/>
              </a:rPr>
              <a:t>Final presentation delivered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66560" y="3749039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766560" y="3886200"/>
            <a:ext cx="201168" cy="201168"/>
          </a:xfrm>
          <a:prstGeom prst="rect">
            <a:avLst/>
          </a:prstGeom>
          <a:noFill/>
          <a:ln w="9525">
            <a:solidFill>
              <a:srgbClr val="1F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385876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C785C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8130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1F1E"/>
                </a:solidFill>
                <a:latin typeface="Georgia"/>
              </a:rPr>
              <a:t>All deliverables reviewed vs WBS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66560" y="4224528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766560" y="4361688"/>
            <a:ext cx="201168" cy="201168"/>
          </a:xfrm>
          <a:prstGeom prst="rect">
            <a:avLst/>
          </a:prstGeom>
          <a:noFill/>
          <a:ln w="9525">
            <a:solidFill>
              <a:srgbClr val="1F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66560" y="4334255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C785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28853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1F1E"/>
                </a:solidFill>
                <a:latin typeface="Georgia"/>
              </a:rPr>
              <a:t>Lessons learned documented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66560" y="4700016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66560" y="4837175"/>
            <a:ext cx="201168" cy="201168"/>
          </a:xfrm>
          <a:prstGeom prst="rect">
            <a:avLst/>
          </a:prstGeom>
          <a:noFill/>
          <a:ln w="9525">
            <a:solidFill>
              <a:srgbClr val="1F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0" y="4809743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C785C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764023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1F1E"/>
                </a:solidFill>
                <a:latin typeface="Georgia"/>
              </a:rPr>
              <a:t>Stakeholder sign-off recorded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66560" y="5175503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766560" y="5312663"/>
            <a:ext cx="201168" cy="201168"/>
          </a:xfrm>
          <a:prstGeom prst="rect">
            <a:avLst/>
          </a:prstGeom>
          <a:noFill/>
          <a:ln w="9525">
            <a:solidFill>
              <a:srgbClr val="1F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60" y="5285231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C785C"/>
                </a:solidFill>
                <a:latin typeface="Segoe U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239511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1F1E"/>
                </a:solidFill>
                <a:latin typeface="Georgia"/>
              </a:rPr>
              <a:t>Team formally released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66560" y="5650991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766560" y="5788151"/>
            <a:ext cx="201168" cy="201168"/>
          </a:xfrm>
          <a:prstGeom prst="rect">
            <a:avLst/>
          </a:prstGeom>
          <a:noFill/>
          <a:ln w="9525">
            <a:solidFill>
              <a:srgbClr val="1F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66560" y="576071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C785C"/>
                </a:solidFill>
                <a:latin typeface="Segoe U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71499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1F1E"/>
                </a:solidFill>
                <a:latin typeface="Georgia"/>
              </a:rPr>
              <a:t>Handover package archived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66560" y="6126479"/>
            <a:ext cx="4919472" cy="0"/>
          </a:xfrm>
          <a:prstGeom prst="line">
            <a:avLst/>
          </a:prstGeom>
          <a:ln w="381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Segoe UI"/>
              </a:rPr>
              <a:t>GIU  ·  SPRING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6350">
            <a:solidFill>
              <a:srgbClr val="1F1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0972800" cy="2537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9600" b="0" i="0" dirty="0">
                <a:solidFill>
                  <a:srgbClr val="1F1F1E"/>
                </a:solidFill>
                <a:latin typeface="Georgia"/>
              </a:rPr>
              <a:t>Thank</a:t>
            </a:r>
          </a:p>
          <a:p>
            <a:pPr algn="ctr">
              <a:lnSpc>
                <a:spcPct val="85000"/>
              </a:lnSpc>
            </a:pPr>
            <a:r>
              <a:rPr sz="9600" b="0" i="0" dirty="0">
                <a:solidFill>
                  <a:srgbClr val="1F1F1E"/>
                </a:solidFill>
                <a:latin typeface="Georgia"/>
              </a:rPr>
              <a:t>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120640"/>
            <a:ext cx="54864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303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3D3B37"/>
                </a:solidFill>
                <a:latin typeface="Georgia"/>
              </a:rPr>
              <a:t>Questions &amp; discussion.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857B"/>
                </a:solidFill>
                <a:latin typeface="Segoe U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17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1F1E"/>
                </a:solidFill>
                <a:latin typeface="Segoe UI Semibold"/>
              </a:rPr>
              <a:t>Ibrahim Madany  ·  Yassin Kassem  ·  Loay Waleed  ·  Malek Khaled  ·  Youssef Othman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857B"/>
                </a:solidFill>
                <a:latin typeface="Segoe UI"/>
              </a:rPr>
              <a:t>DR. ABDALLAH OSMAN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2975</Words>
  <Application>Microsoft Office PowerPoint</Application>
  <PresentationFormat>Widescreen</PresentationFormat>
  <Paragraphs>875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Consolas</vt:lpstr>
      <vt:lpstr>Georgia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Mohamed Ahmed Madany</cp:lastModifiedBy>
  <cp:revision>2</cp:revision>
  <dcterms:created xsi:type="dcterms:W3CDTF">2013-01-27T09:14:16Z</dcterms:created>
  <dcterms:modified xsi:type="dcterms:W3CDTF">2026-05-23T22:43:18Z</dcterms:modified>
  <cp:category/>
</cp:coreProperties>
</file>